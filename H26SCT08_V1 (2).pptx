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BAA0017-4D69-47EE-A169-B6AAFF6A3613}" v="14" dt="2026-07-31T09:54:55.19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55" autoAdjust="0"/>
    <p:restoredTop sz="94660"/>
  </p:normalViewPr>
  <p:slideViewPr>
    <p:cSldViewPr snapToGrid="0">
      <p:cViewPr varScale="1">
        <p:scale>
          <a:sx n="71" d="100"/>
          <a:sy n="71" d="100"/>
        </p:scale>
        <p:origin x="702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27E70-4B98-D677-4193-4DD8FFAFE9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C4DFB40-E27D-6C74-CAF5-7875B048AF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EE8E245-A119-DE44-61DF-3DD0FB1E9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5C9ED-0CD4-47C9-9E3D-C26054AAED5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9D52031-46FE-7B67-3586-CE782551D8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1FAA9-E14A-EDEF-BDC5-F7BD4B2556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DFF8D-7B06-4D59-9FD5-E526C4570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43392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E7A54E-6E10-0378-2AF0-524F04A3C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345E99-8374-8538-5BCC-CF325C0A30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5DE35F-1B6A-88D1-53C1-E5FD0496A9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5C9ED-0CD4-47C9-9E3D-C26054AAED5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0B495A-644A-AA3C-95F5-0129D3A3A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9E0618-9A19-8A7B-48D9-E861786DB1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DFF8D-7B06-4D59-9FD5-E526C4570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67047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456B6-C0E4-3AA1-BED7-91A71E727A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D0223-FCCD-D487-CB49-86C3A5A2A28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02A212-746C-F7E9-9353-B5439CE4C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5C9ED-0CD4-47C9-9E3D-C26054AAED5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F3C94A-57F2-0677-C53D-6EF8250D2A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A1841A0-D5B6-C044-383E-E9FAC9578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DFF8D-7B06-4D59-9FD5-E526C4570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52720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057739-5AAF-FEB1-9C5B-AD18BBFA2C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38207F-3CA0-D2BA-D803-659D3CC093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858D8F0-423C-980F-97D1-229453CDDE4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E44C04-B1CF-A88F-3591-9B4C4832DE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5C9ED-0CD4-47C9-9E3D-C26054AAED5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F38498-FE92-424C-2AD3-44DDE98FFF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501974A-A9C1-86C7-E9AA-C23C107270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DFF8D-7B06-4D59-9FD5-E526C4570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07914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54C6C-AB28-5EC4-7ED4-38509E990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E8B47A-A42D-A7AD-627D-B18586FA22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39809D0-8410-4F3D-BCC9-C84776EA933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03D5E01-4EE9-4FB5-6A1C-75ABE977CA5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B94CEDA-8CCD-A0D5-E412-447C19C218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21DFC9D-3AE4-8057-7900-01BE2B1777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5C9ED-0CD4-47C9-9E3D-C26054AAED5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205BDE1-E8BE-CE8B-0F42-DE392CB5C4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1CE8543-CF1C-B3CC-42E2-F462E92FD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DFF8D-7B06-4D59-9FD5-E526C4570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957746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7350E0-DC75-C953-19C0-343D598FA6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5EFC42-A6E8-236C-E261-8FE8384585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5C9ED-0CD4-47C9-9E3D-C26054AAED5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44F7ECE-345B-6502-9385-2BB7C52D48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9B278A8-8A20-E62C-D6CC-CCB4F6C149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DFF8D-7B06-4D59-9FD5-E526C4570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44474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0440356-A978-7130-EF0B-544CF71F8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5C9ED-0CD4-47C9-9E3D-C26054AAED5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6D958E-0407-DFE0-BE50-16FB52452A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B72E2D-3DCD-5093-3294-B0272746C1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DFF8D-7B06-4D59-9FD5-E526C4570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61901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8801FC-EF36-BD37-F0D7-7DDDEF7672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FEC4A-D90A-15D5-ADD8-1F841F5E77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4DF4D9-15D4-E81E-3B5C-20F844A803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1970B71-B4A6-8374-2B2D-078B8A76C5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5C9ED-0CD4-47C9-9E3D-C26054AAED5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6A6D568-E12F-4E4D-BD20-49CE29E57F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4007C7-2273-D143-0A71-2A1198392D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DFF8D-7B06-4D59-9FD5-E526C4570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812616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5B965E-BF67-592F-9704-0CE6E3C48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69FAF0D-A874-EDC1-145E-3563E5AED5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7C38DA2-9408-85CB-20FF-E0E3C0F168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A53A8E-B3E3-85F1-3C9F-C845E6755E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5C9ED-0CD4-47C9-9E3D-C26054AAED5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DF101C6-19BD-40C2-0EEB-C22BE59C8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B6D0043-A97C-E823-E07E-315ADBD560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DFF8D-7B06-4D59-9FD5-E526C4570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12767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7D2227-9E58-96FF-05AA-2F197B3C8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CFA9169-F7D0-579C-51EA-D06D35BCE51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B4E055-F05D-FBD8-4029-BD97ED6A32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5C9ED-0CD4-47C9-9E3D-C26054AAED5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435B3B-6538-AF13-F5D0-38A7DFA6F3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6BE336-9CB2-AA91-C139-C5A9DEF194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DFF8D-7B06-4D59-9FD5-E526C4570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666164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A247B98-0A79-4986-C3BC-44B5354DEF4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3210F58-D742-B230-FE3E-0472419175C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C7E5A9C-C9EB-4822-1104-3CC7A61254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D5C9ED-0CD4-47C9-9E3D-C26054AAED5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FF8992-A125-EDCB-EE54-73506CF44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D902B4-2F0C-C1CB-282F-BA16E18AF2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F8DFF8D-7B06-4D59-9FD5-E526C4570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59329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5E09B4C-0D31-5D39-0E5C-E9BE4C921F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938281E-4D35-A3C0-E3CE-DB46A1B946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D0B717-759B-53DF-22C0-9300FB7778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4D5C9ED-0CD4-47C9-9E3D-C26054AAED5F}" type="datetimeFigureOut">
              <a:rPr lang="en-IN" smtClean="0"/>
              <a:t>31-07-2026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3A949BA-34ED-68C1-D266-5575D47BF8E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E0416E-E2DD-0D47-6DEE-3B0C8A35E2E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F8DFF8D-7B06-4D59-9FD5-E526C4570BD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82039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A5B04B95-913D-2847-5AF0-3270239DD4F8}"/>
              </a:ext>
            </a:extLst>
          </p:cNvPr>
          <p:cNvSpPr txBox="1"/>
          <p:nvPr/>
        </p:nvSpPr>
        <p:spPr>
          <a:xfrm>
            <a:off x="3596421" y="3903345"/>
            <a:ext cx="5230906" cy="29546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TEAM NAME : </a:t>
            </a:r>
            <a:r>
              <a:rPr lang="en-US" sz="2400" dirty="0" err="1"/>
              <a:t>SentinelX</a:t>
            </a:r>
            <a:r>
              <a:rPr lang="en-US" sz="2400" dirty="0"/>
              <a:t> AI</a:t>
            </a:r>
          </a:p>
          <a:p>
            <a:r>
              <a:rPr lang="en-US" sz="2400" dirty="0"/>
              <a:t>TEAM  ID : H26SCT08</a:t>
            </a:r>
          </a:p>
          <a:p>
            <a:r>
              <a:rPr lang="en-US" sz="2400" dirty="0"/>
              <a:t>TEAM LEADER : HARISH RAJ G</a:t>
            </a:r>
          </a:p>
          <a:p>
            <a:r>
              <a:rPr lang="en-US" sz="2400" dirty="0"/>
              <a:t>TEAM MEMBERS: SIRANJEEVI K</a:t>
            </a:r>
          </a:p>
          <a:p>
            <a:r>
              <a:rPr lang="en-US" sz="2400" dirty="0"/>
              <a:t>                                      SURESH V</a:t>
            </a:r>
          </a:p>
          <a:p>
            <a:endParaRPr lang="en-US" sz="2400" dirty="0"/>
          </a:p>
          <a:p>
            <a:endParaRPr lang="en-US" sz="2400" dirty="0"/>
          </a:p>
          <a:p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CE34995-596A-85C0-C80F-4609EC5EB067}"/>
              </a:ext>
            </a:extLst>
          </p:cNvPr>
          <p:cNvSpPr txBox="1"/>
          <p:nvPr/>
        </p:nvSpPr>
        <p:spPr>
          <a:xfrm>
            <a:off x="1527950" y="596897"/>
            <a:ext cx="9367848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rgbClr val="FF0000"/>
                </a:solidFill>
              </a:rPr>
              <a:t>RENGANAYAGI VARATHARAJ COLLEGE OF ENGINEERING</a:t>
            </a:r>
            <a:endParaRPr lang="en-IN" sz="2800" b="1" dirty="0">
              <a:solidFill>
                <a:srgbClr val="FF0000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AACFEB-7F0C-6A7A-77A4-D17E7F876C0E}"/>
              </a:ext>
            </a:extLst>
          </p:cNvPr>
          <p:cNvSpPr txBox="1"/>
          <p:nvPr/>
        </p:nvSpPr>
        <p:spPr>
          <a:xfrm>
            <a:off x="1389290" y="1736782"/>
            <a:ext cx="94134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2">
                    <a:lumMod val="10000"/>
                  </a:schemeClr>
                </a:solidFill>
              </a:rPr>
              <a:t>AI FOR SMARTCITIES AND TRANSPORTATION</a:t>
            </a:r>
            <a:endParaRPr lang="en-IN" sz="3600" b="1" dirty="0">
              <a:solidFill>
                <a:schemeClr val="bg2">
                  <a:lumMod val="10000"/>
                </a:schemeClr>
              </a:solidFill>
            </a:endParaRPr>
          </a:p>
        </p:txBody>
      </p:sp>
      <p:pic>
        <p:nvPicPr>
          <p:cNvPr id="3" name="Picture 2" descr="Renganayagi Varatharaj College of Engineering (@rvceindia ...">
            <a:extLst>
              <a:ext uri="{FF2B5EF4-FFF2-40B4-BE49-F238E27FC236}">
                <a16:creationId xmlns:a16="http://schemas.microsoft.com/office/drawing/2014/main" id="{1BDCAFC5-CB76-AB33-3001-41A8E2069893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AF0D02"/>
              </a:clrFrom>
              <a:clrTo>
                <a:srgbClr val="AF0D02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28785" y="288565"/>
            <a:ext cx="898141" cy="1139885"/>
          </a:xfrm>
          <a:prstGeom prst="rect">
            <a:avLst/>
          </a:prstGeom>
        </p:spPr>
      </p:pic>
      <p:pic>
        <p:nvPicPr>
          <p:cNvPr id="4" name="Picture 3" descr="Renganayagi Varatharaj College of Engineering | Campus">
            <a:extLst>
              <a:ext uri="{FF2B5EF4-FFF2-40B4-BE49-F238E27FC236}">
                <a16:creationId xmlns:a16="http://schemas.microsoft.com/office/drawing/2014/main" id="{6E4E6200-3FC3-1FFC-6176-C85FA9C31D6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0295" y="249901"/>
            <a:ext cx="981754" cy="1139886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7101F7F5-8DD4-7A31-9680-AB0E8E65D675}"/>
              </a:ext>
            </a:extLst>
          </p:cNvPr>
          <p:cNvSpPr txBox="1"/>
          <p:nvPr/>
        </p:nvSpPr>
        <p:spPr>
          <a:xfrm>
            <a:off x="2353660" y="2629285"/>
            <a:ext cx="806087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 err="1"/>
              <a:t>SafeGas</a:t>
            </a:r>
            <a:r>
              <a:rPr lang="en-IN" sz="2400" b="1" dirty="0"/>
              <a:t> AI: An Intelligent AI-Powered LPG Leakage Prediction and  Smart Safety System</a:t>
            </a:r>
          </a:p>
        </p:txBody>
      </p:sp>
    </p:spTree>
    <p:extLst>
      <p:ext uri="{BB962C8B-B14F-4D97-AF65-F5344CB8AC3E}">
        <p14:creationId xmlns:p14="http://schemas.microsoft.com/office/powerpoint/2010/main" val="334118030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3AE00FB-06E0-0A2A-5BC5-ABE9A9CE7FB4}"/>
              </a:ext>
            </a:extLst>
          </p:cNvPr>
          <p:cNvSpPr txBox="1"/>
          <p:nvPr/>
        </p:nvSpPr>
        <p:spPr>
          <a:xfrm>
            <a:off x="2710868" y="322730"/>
            <a:ext cx="8006437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/>
              <a:t>PROBLEM STATEMENT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DADAC81-456A-1823-D75E-DBB44E64229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3900" y="1077686"/>
            <a:ext cx="6667500" cy="568234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F15D70E9-F1F6-494F-D9B0-0FBD8B781748}"/>
              </a:ext>
            </a:extLst>
          </p:cNvPr>
          <p:cNvSpPr txBox="1"/>
          <p:nvPr/>
        </p:nvSpPr>
        <p:spPr>
          <a:xfrm>
            <a:off x="8039100" y="1430726"/>
            <a:ext cx="385898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dirty="0"/>
              <a:t>LPG gas leakage is a major cause of fires and explosions.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dirty="0"/>
              <a:t>Traditional systems detect gas leaks only after leakage occurs.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dirty="0"/>
              <a:t>Most existing systems rely on a single gas sensor.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dirty="0"/>
              <a:t>They cannot predict accidents before they become dangerous.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dirty="0"/>
              <a:t>There is no real-time monitoring or remote alert system.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dirty="0"/>
              <a:t>Delayed response can lead to loss of lives and property damage.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IN" dirty="0"/>
              <a:t>An AI-powered smart safety system is needed for early prediction and automatic prevention</a:t>
            </a:r>
          </a:p>
        </p:txBody>
      </p:sp>
    </p:spTree>
    <p:extLst>
      <p:ext uri="{BB962C8B-B14F-4D97-AF65-F5344CB8AC3E}">
        <p14:creationId xmlns:p14="http://schemas.microsoft.com/office/powerpoint/2010/main" val="9242488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5D4DD7C-A1F0-BE8F-3E16-A3E261243EEB}"/>
              </a:ext>
            </a:extLst>
          </p:cNvPr>
          <p:cNvSpPr txBox="1"/>
          <p:nvPr/>
        </p:nvSpPr>
        <p:spPr>
          <a:xfrm>
            <a:off x="3690257" y="435427"/>
            <a:ext cx="497477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EXISTING SYSTEM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B3E8D5E-FDD2-CF3E-65BC-9C7B3A446A40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873" y="918119"/>
            <a:ext cx="6809014" cy="5736771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3A7C67BF-CED0-D10F-1EA7-DD2ED25194EF}"/>
              </a:ext>
            </a:extLst>
          </p:cNvPr>
          <p:cNvSpPr txBox="1"/>
          <p:nvPr/>
        </p:nvSpPr>
        <p:spPr>
          <a:xfrm>
            <a:off x="7380514" y="1801345"/>
            <a:ext cx="4370613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Traditional systems use only a single LPG gas sensor for detection.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Gas leakage is detected only after the gas has already leaked.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A local buzzer is activated, requiring manual user intervention.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No AI-based analysis or accident risk prediction is available.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No cloud storage or historical data monitoring.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No remote notifications or emergency alerts are provided.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Delayed detection increases the risk of fire, explosions, and property damage.</a:t>
            </a:r>
          </a:p>
        </p:txBody>
      </p:sp>
    </p:spTree>
    <p:extLst>
      <p:ext uri="{BB962C8B-B14F-4D97-AF65-F5344CB8AC3E}">
        <p14:creationId xmlns:p14="http://schemas.microsoft.com/office/powerpoint/2010/main" val="28546626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E04856D-4F68-68E9-4597-7464F2B2DBC8}"/>
              </a:ext>
            </a:extLst>
          </p:cNvPr>
          <p:cNvSpPr txBox="1"/>
          <p:nvPr/>
        </p:nvSpPr>
        <p:spPr>
          <a:xfrm>
            <a:off x="3483428" y="304797"/>
            <a:ext cx="522514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400" b="1" dirty="0"/>
              <a:t>OUR INNOVATION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B528CCE-E8FE-1C96-F279-A29DA738CDA8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986" y="1230090"/>
            <a:ext cx="6798128" cy="532311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DFDD8D94-22D3-9BC0-5601-A6BFD1D80737}"/>
              </a:ext>
            </a:extLst>
          </p:cNvPr>
          <p:cNvSpPr txBox="1"/>
          <p:nvPr/>
        </p:nvSpPr>
        <p:spPr>
          <a:xfrm>
            <a:off x="7685313" y="1490989"/>
            <a:ext cx="3951516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ESP32 collects real-time data from gas, temperature, humidity, and flame sensors.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Sensor data is sent to the Flask application through USB serial communication.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The AI engine </a:t>
            </a:r>
            <a:r>
              <a:rPr lang="en-IN" dirty="0" err="1"/>
              <a:t>analyzes</a:t>
            </a:r>
            <a:r>
              <a:rPr lang="en-IN" dirty="0"/>
              <a:t> the data and predicts the current risk level.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If a high-risk condition is detected, the buzzer and exhaust fan are activated automatically.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Emergency WhatsApp alerts are sent instantly with the risk status and sensor readings.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dirty="0"/>
              <a:t>All data is stored in the database and displayed on a live dashboard for real-time monitoring.</a:t>
            </a:r>
          </a:p>
        </p:txBody>
      </p:sp>
    </p:spTree>
    <p:extLst>
      <p:ext uri="{BB962C8B-B14F-4D97-AF65-F5344CB8AC3E}">
        <p14:creationId xmlns:p14="http://schemas.microsoft.com/office/powerpoint/2010/main" val="333906347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7DA095E-280A-612E-1526-3294DEDAA91E}"/>
              </a:ext>
            </a:extLst>
          </p:cNvPr>
          <p:cNvSpPr txBox="1"/>
          <p:nvPr/>
        </p:nvSpPr>
        <p:spPr>
          <a:xfrm>
            <a:off x="2558144" y="228600"/>
            <a:ext cx="79248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/>
              <a:t>SYSTEM ARCHITECTURE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5FBAE3E-F891-304D-62E7-FA70E38B3EA5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043" y="1059597"/>
            <a:ext cx="7059386" cy="5569803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E42A544-23EA-287F-77A2-49C2A547563E}"/>
              </a:ext>
            </a:extLst>
          </p:cNvPr>
          <p:cNvSpPr txBox="1"/>
          <p:nvPr/>
        </p:nvSpPr>
        <p:spPr>
          <a:xfrm>
            <a:off x="7772400" y="1443841"/>
            <a:ext cx="3766457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dirty="0"/>
              <a:t>ESP32 collects real-time data from gas, temperature, humidity, and flame sensors.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dirty="0"/>
              <a:t>The sensor data is sent to the Flask backend for processing.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dirty="0"/>
              <a:t>AI </a:t>
            </a:r>
            <a:r>
              <a:rPr lang="en-IN" dirty="0" err="1"/>
              <a:t>analyzes</a:t>
            </a:r>
            <a:r>
              <a:rPr lang="en-IN" dirty="0"/>
              <a:t> the data and predicts the current risk level.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dirty="0"/>
              <a:t>If a dangerous condition is detected, the buzzer and exhaust fan turn on automatically.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dirty="0"/>
              <a:t>WhatsApp alerts are sent instantly to notify the user about the emergency. </a:t>
            </a:r>
          </a:p>
          <a:p>
            <a:pPr marL="342900" lvl="0" indent="-342900">
              <a:buFont typeface="Wingdings" panose="05000000000000000000" pitchFamily="2" charset="2"/>
              <a:buChar char="ü"/>
            </a:pPr>
            <a:r>
              <a:rPr lang="en-IN" dirty="0"/>
              <a:t>A live dashboard displays sensor data, alerts, and system status for continuous monitoring</a:t>
            </a:r>
          </a:p>
        </p:txBody>
      </p:sp>
    </p:spTree>
    <p:extLst>
      <p:ext uri="{BB962C8B-B14F-4D97-AF65-F5344CB8AC3E}">
        <p14:creationId xmlns:p14="http://schemas.microsoft.com/office/powerpoint/2010/main" val="7971629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2F37D8A-AA8A-25F7-A284-6C7D7319CE9D}"/>
              </a:ext>
            </a:extLst>
          </p:cNvPr>
          <p:cNvSpPr txBox="1"/>
          <p:nvPr/>
        </p:nvSpPr>
        <p:spPr>
          <a:xfrm>
            <a:off x="957943" y="278402"/>
            <a:ext cx="1027611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/>
              <a:t>EXISTING SYSTEM VS SENTINELX AI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0AE498D-3EC5-61FF-F455-BA84390A94C2}"/>
              </a:ext>
            </a:extLst>
          </p:cNvPr>
          <p:cNvSpPr txBox="1"/>
          <p:nvPr/>
        </p:nvSpPr>
        <p:spPr>
          <a:xfrm>
            <a:off x="6629401" y="1389769"/>
            <a:ext cx="5181600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Traditional systems detect gas leaks only after leakage occurs, while </a:t>
            </a:r>
            <a:r>
              <a:rPr lang="en-IN" dirty="0" err="1"/>
              <a:t>SafeGas</a:t>
            </a:r>
            <a:r>
              <a:rPr lang="en-IN" dirty="0"/>
              <a:t> AI predicts potential risks before accidents happen.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Existing systems use a single gas sensor, whereas </a:t>
            </a:r>
            <a:r>
              <a:rPr lang="en-IN" dirty="0" err="1"/>
              <a:t>SafeGas</a:t>
            </a:r>
            <a:r>
              <a:rPr lang="en-IN" dirty="0"/>
              <a:t> AI integrates multiple sensors for accurate monitoring.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Traditional systems provide only a local buzzer alert, while </a:t>
            </a:r>
            <a:r>
              <a:rPr lang="en-IN" dirty="0" err="1"/>
              <a:t>SafeGas</a:t>
            </a:r>
            <a:r>
              <a:rPr lang="en-IN" dirty="0"/>
              <a:t> AI sends instant WhatsApp notifications.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Existing systems require manual action, whereas </a:t>
            </a:r>
            <a:r>
              <a:rPr lang="en-IN" dirty="0" err="1"/>
              <a:t>SafeGas</a:t>
            </a:r>
            <a:r>
              <a:rPr lang="en-IN" dirty="0"/>
              <a:t> AI automatically activates the buzzer and exhaust fan.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Traditional systems do not support cloud monitoring, while </a:t>
            </a:r>
            <a:r>
              <a:rPr lang="en-IN" dirty="0" err="1"/>
              <a:t>SafeGas</a:t>
            </a:r>
            <a:r>
              <a:rPr lang="en-IN" dirty="0"/>
              <a:t> AI provides a real-time web dashboard with data storage.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By combining IoT, AI, Flask, and WhatsApp automation, </a:t>
            </a:r>
            <a:r>
              <a:rPr lang="en-IN" dirty="0" err="1"/>
              <a:t>SafeGas</a:t>
            </a:r>
            <a:r>
              <a:rPr lang="en-IN" dirty="0"/>
              <a:t> AI offers a smarter, faster, and more reliable LPG safety solution.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C2DD0E0-ED54-6E2F-2AB1-4B766F0372E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EFEFE"/>
              </a:clrFrom>
              <a:clrTo>
                <a:srgbClr val="FEFEFE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2145" y="1082312"/>
            <a:ext cx="6270170" cy="56932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609528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692497A-A99A-D51A-D175-F484336424DB}"/>
              </a:ext>
            </a:extLst>
          </p:cNvPr>
          <p:cNvSpPr txBox="1"/>
          <p:nvPr/>
        </p:nvSpPr>
        <p:spPr>
          <a:xfrm>
            <a:off x="1681842" y="370114"/>
            <a:ext cx="88283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/>
              <a:t>IMPLEMENTATION PROGRESS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114210-96A4-2193-2B4C-C2F8934ECB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1235" y="1382486"/>
            <a:ext cx="9689527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173441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4831BF-E0A8-6C5C-DD31-71209C450663}"/>
              </a:ext>
            </a:extLst>
          </p:cNvPr>
          <p:cNvSpPr txBox="1"/>
          <p:nvPr/>
        </p:nvSpPr>
        <p:spPr>
          <a:xfrm>
            <a:off x="1763486" y="326571"/>
            <a:ext cx="86650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4800" b="1" dirty="0"/>
              <a:t>IMPLEMENTATION PROGRESS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7C918A7-3E7C-FCA4-8E00-33BAD58128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343" y="1157568"/>
            <a:ext cx="11244943" cy="55263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3118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FDC4D39-4445-624F-268B-741B3720DA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57198" y="404261"/>
            <a:ext cx="6227346" cy="53131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9730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215</TotalTime>
  <Words>504</Words>
  <Application>Microsoft Office PowerPoint</Application>
  <PresentationFormat>Widescreen</PresentationFormat>
  <Paragraphs>48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Aptos</vt:lpstr>
      <vt:lpstr>Aptos Display</vt:lpstr>
      <vt:lpstr>Arial</vt:lpstr>
      <vt:lpstr>Wingdings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OBITO RIN</dc:creator>
  <cp:lastModifiedBy>OBITO RIN</cp:lastModifiedBy>
  <cp:revision>2</cp:revision>
  <dcterms:created xsi:type="dcterms:W3CDTF">2026-07-31T05:11:56Z</dcterms:created>
  <dcterms:modified xsi:type="dcterms:W3CDTF">2026-07-31T10:27:24Z</dcterms:modified>
</cp:coreProperties>
</file>